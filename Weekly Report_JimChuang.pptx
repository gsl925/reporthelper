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7" r:id="rId4"/>
  </p:sldMasterIdLst>
  <p:notesMasterIdLst>
    <p:notesMasterId r:id="rId6"/>
  </p:notesMasterIdLst>
  <p:handoutMasterIdLst>
    <p:handoutMasterId r:id="rId7"/>
  </p:handoutMasterIdLst>
  <p:sldIdLst>
    <p:sldId id="526" r:id="rId5"/>
    <p:sldId id="527" r:id="rId13"/>
    <p:sldId id="528" r:id="rId14"/>
    <p:sldId id="529" r:id="rId15"/>
    <p:sldId id="530" r:id="rId16"/>
    <p:sldId id="531" r:id="rId17"/>
    <p:sldId id="532" r:id="rId18"/>
    <p:sldId id="533" r:id="rId19"/>
    <p:sldId id="534" r:id="rId20"/>
    <p:sldId id="535" r:id="rId21"/>
    <p:sldId id="536" r:id="rId22"/>
    <p:sldId id="537" r:id="rId23"/>
  </p:sldIdLst>
  <p:sldSz cx="9906000" cy="6858000" type="A4"/>
  <p:notesSz cx="6807200" cy="9939338"/>
  <p:defaultTextStyle>
    <a:defPPr>
      <a:defRPr lang="zh-TW"/>
    </a:defPPr>
    <a:lvl1pPr marL="0" algn="l" defTabSz="1149492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1pPr>
    <a:lvl2pPr marL="574746" algn="l" defTabSz="1149492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2pPr>
    <a:lvl3pPr marL="1149492" algn="l" defTabSz="1149492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3pPr>
    <a:lvl4pPr marL="1724238" algn="l" defTabSz="1149492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4pPr>
    <a:lvl5pPr marL="2298984" algn="l" defTabSz="1149492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5pPr>
    <a:lvl6pPr marL="2873731" algn="l" defTabSz="1149492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6pPr>
    <a:lvl7pPr marL="3448477" algn="l" defTabSz="1149492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7pPr>
    <a:lvl8pPr marL="4023223" algn="l" defTabSz="1149492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8pPr>
    <a:lvl9pPr marL="4597969" algn="l" defTabSz="1149492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2AA652E8-2B6B-48DF-BE01-9C81D455AAEB}">
          <p14:sldIdLst>
            <p14:sldId id="526"/>
          </p14:sldIdLst>
        </p14:section>
        <p14:section name="未命名的章節" id="{38F3D64B-0C68-44DF-80E1-F2DD402BA0D7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2400" userDrawn="1">
          <p15:clr>
            <a:srgbClr val="A4A3A4"/>
          </p15:clr>
        </p15:guide>
        <p15:guide id="3" orient="horz" pos="2160">
          <p15:clr>
            <a:srgbClr val="A4A3A4"/>
          </p15:clr>
        </p15:guide>
        <p15:guide id="4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0">
          <p15:clr>
            <a:srgbClr val="A4A3A4"/>
          </p15:clr>
        </p15:guide>
        <p15:guide id="2" pos="214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909"/>
    <a:srgbClr val="0066FF"/>
    <a:srgbClr val="FF3F3F"/>
    <a:srgbClr val="E86320"/>
    <a:srgbClr val="FF2009"/>
    <a:srgbClr val="FFD961"/>
    <a:srgbClr val="FFA861"/>
    <a:srgbClr val="0000FF"/>
    <a:srgbClr val="FF7D2D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8469A5-72AA-40AE-AE10-180C6A419455}" v="22" dt="2024-05-24T02:34:58.7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034E78-7F5D-4C2E-B375-FC64B27BC917}" styleName="深色樣式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中等深淺樣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中等深淺樣式 1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C4B1156A-380E-4F78-BDF5-A606A8083BF9}" styleName="中等深淺樣式 4 - 輔色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2838BEF-8BB2-4498-84A7-C5851F593DF1}" styleName="中等深淺樣式 4 - 輔色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20" autoAdjust="0"/>
    <p:restoredTop sz="95673" autoAdjust="0"/>
  </p:normalViewPr>
  <p:slideViewPr>
    <p:cSldViewPr>
      <p:cViewPr varScale="1">
        <p:scale>
          <a:sx n="154" d="100"/>
          <a:sy n="154" d="100"/>
        </p:scale>
        <p:origin x="1914" y="144"/>
      </p:cViewPr>
      <p:guideLst>
        <p:guide orient="horz" pos="1800"/>
        <p:guide pos="2400"/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>
      <p:cViewPr varScale="1">
        <p:scale>
          <a:sx n="67" d="100"/>
          <a:sy n="67" d="100"/>
        </p:scale>
        <p:origin x="3640" y="52"/>
      </p:cViewPr>
      <p:guideLst>
        <p:guide orient="horz" pos="3130"/>
        <p:guide pos="2144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5/10/relationships/revisionInfo" Target="revisionInfo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56038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D8841D-6FBB-498C-8664-9F8FE655BD62}" type="datetimeFigureOut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56038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46E67-C794-414B-BFE8-35DAFB1B01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48164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696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696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68212D-7DBB-445B-AC9D-3EE19CEB042C}" type="datetimeFigureOut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712788" y="746125"/>
            <a:ext cx="5381625" cy="3725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0720" y="4721186"/>
            <a:ext cx="5445760" cy="447270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440646"/>
            <a:ext cx="2949787" cy="49696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5838" y="9440646"/>
            <a:ext cx="2949787" cy="49696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A09A61-44FC-4C7B-BDFE-415E494709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2578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14949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4746" algn="l" defTabSz="114949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49492" algn="l" defTabSz="114949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4238" algn="l" defTabSz="114949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298984" algn="l" defTabSz="114949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73731" algn="l" defTabSz="114949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48477" algn="l" defTabSz="114949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23223" algn="l" defTabSz="114949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597969" algn="l" defTabSz="114949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A09A61-44FC-4C7B-BDFE-415E494709E9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758429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1.wdp"/><Relationship Id="rId5" Type="http://schemas.openxmlformats.org/officeDocument/2006/relationships/image" Target="../media/image6.png"/><Relationship Id="rId6" Type="http://schemas.openxmlformats.org/officeDocument/2006/relationships/image" Target="../media/image3.png"/><Relationship Id="rId7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 hasCustomPrompt="1"/>
          </p:nvPr>
        </p:nvSpPr>
        <p:spPr>
          <a:xfrm>
            <a:off x="178869" y="2184065"/>
            <a:ext cx="8241575" cy="1072116"/>
          </a:xfrm>
          <a:prstGeom prst="rect">
            <a:avLst/>
          </a:prstGeom>
        </p:spPr>
        <p:txBody>
          <a:bodyPr lIns="114949" tIns="57475" rIns="114949" bIns="57475"/>
          <a:lstStyle>
            <a:lvl1pPr algn="l" defTabSz="1149492" rtl="0" eaLnBrk="1" latinLnBrk="0" hangingPunct="1">
              <a:spcBef>
                <a:spcPct val="0"/>
              </a:spcBef>
              <a:buNone/>
              <a:defRPr lang="zh-TW" altLang="en-US" sz="6900" kern="1200" dirty="0">
                <a:gradFill flip="none" rotWithShape="1">
                  <a:gsLst>
                    <a:gs pos="0">
                      <a:srgbClr val="FFFFFF"/>
                    </a:gs>
                    <a:gs pos="7001">
                      <a:srgbClr val="E6E6E6"/>
                    </a:gs>
                    <a:gs pos="32001">
                      <a:schemeClr val="bg1">
                        <a:lumMod val="50000"/>
                      </a:schemeClr>
                    </a:gs>
                    <a:gs pos="47000">
                      <a:srgbClr val="E6E6E6"/>
                    </a:gs>
                    <a:gs pos="85001">
                      <a:schemeClr val="bg1">
                        <a:lumMod val="50000"/>
                      </a:schemeClr>
                    </a:gs>
                    <a:gs pos="100000">
                      <a:srgbClr val="E6E6E6"/>
                    </a:gs>
                  </a:gsLst>
                  <a:lin ang="5400000" scaled="0"/>
                  <a:tileRect/>
                </a:gradFill>
                <a:effectLst>
                  <a:outerShdw blurRad="50800" dist="50800" dir="5400000" algn="ctr" rotWithShape="0">
                    <a:schemeClr val="tx1"/>
                  </a:outerShdw>
                </a:effectLst>
                <a:latin typeface="ROG Fonts v1.5" panose="00000500000000000000" pitchFamily="50" charset="0"/>
                <a:ea typeface="微軟正黑體" panose="020B0604030504040204" pitchFamily="34" charset="-120"/>
                <a:cs typeface="+mn-cs"/>
              </a:defRPr>
            </a:lvl1pPr>
          </a:lstStyle>
          <a:p>
            <a:r>
              <a:rPr lang="zh-TW" altLang="en-US" dirty="0"/>
              <a:t>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78870" y="3256181"/>
            <a:ext cx="6934200" cy="645798"/>
          </a:xfrm>
          <a:prstGeom prst="rect">
            <a:avLst/>
          </a:prstGeom>
        </p:spPr>
        <p:txBody>
          <a:bodyPr lIns="114949" tIns="57475" rIns="114949" bIns="57475"/>
          <a:lstStyle>
            <a:lvl1pPr marL="0" indent="0" algn="l">
              <a:buNone/>
              <a:defRPr sz="1800">
                <a:solidFill>
                  <a:schemeClr val="bg1">
                    <a:lumMod val="75000"/>
                  </a:schemeClr>
                </a:solidFill>
                <a:latin typeface="Xolonium" pitchFamily="50" charset="0"/>
              </a:defRPr>
            </a:lvl1pPr>
            <a:lvl2pPr marL="5305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610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915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220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525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830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7135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441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dirty="0"/>
              <a:t>按一下以編輯母片副標題樣式</a:t>
            </a:r>
          </a:p>
        </p:txBody>
      </p:sp>
      <p:pic>
        <p:nvPicPr>
          <p:cNvPr id="9" name="Picture 3" descr="D:\Strix\PPT_template for guideline\ROG_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9304" y="231845"/>
            <a:ext cx="1980000" cy="377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圖片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908" y="6481452"/>
            <a:ext cx="900000" cy="184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084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95300" y="692696"/>
            <a:ext cx="8915400" cy="576064"/>
          </a:xfrm>
          <a:prstGeom prst="rect">
            <a:avLst/>
          </a:prstGeom>
        </p:spPr>
        <p:txBody>
          <a:bodyPr/>
          <a:lstStyle>
            <a:lvl1pPr>
              <a:defRPr sz="35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 hasCustomPrompt="1"/>
          </p:nvPr>
        </p:nvSpPr>
        <p:spPr>
          <a:xfrm>
            <a:off x="495300" y="1412776"/>
            <a:ext cx="8915400" cy="5184576"/>
          </a:xfrm>
          <a:prstGeom prst="rect">
            <a:avLst/>
          </a:prstGeom>
        </p:spPr>
        <p:txBody>
          <a:bodyPr/>
          <a:lstStyle>
            <a:lvl1pPr>
              <a:defRPr sz="2200" baseline="0">
                <a:solidFill>
                  <a:schemeClr val="bg1"/>
                </a:solidFill>
                <a:latin typeface="+mj-lt"/>
              </a:defRPr>
            </a:lvl1pPr>
            <a:lvl2pPr>
              <a:defRPr sz="1800" baseline="0">
                <a:solidFill>
                  <a:schemeClr val="bg2"/>
                </a:solidFill>
                <a:latin typeface="+mj-lt"/>
              </a:defRPr>
            </a:lvl2pPr>
            <a:lvl3pPr>
              <a:defRPr sz="1600" baseline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defRPr>
            </a:lvl3pPr>
            <a:lvl4pPr>
              <a:defRPr sz="1400" baseline="0">
                <a:solidFill>
                  <a:schemeClr val="accent3">
                    <a:lumMod val="40000"/>
                    <a:lumOff val="60000"/>
                  </a:schemeClr>
                </a:solidFill>
                <a:latin typeface="+mj-lt"/>
              </a:defRPr>
            </a:lvl4pPr>
            <a:lvl5pPr>
              <a:defRPr sz="1400" baseline="0">
                <a:solidFill>
                  <a:schemeClr val="accent6">
                    <a:lumMod val="40000"/>
                    <a:lumOff val="60000"/>
                  </a:schemeClr>
                </a:solidFill>
                <a:latin typeface="+mj-lt"/>
              </a:defRPr>
            </a:lvl5pPr>
            <a:lvl6pPr>
              <a:defRPr lang="zh-TW" altLang="en-US" sz="1400" kern="1200" baseline="0" dirty="0">
                <a:solidFill>
                  <a:schemeClr val="accent3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defRPr>
            </a:lvl6pPr>
            <a:lvl7pPr>
              <a:defRPr lang="zh-TW" altLang="en-US" sz="1400" kern="1200" baseline="0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defRPr>
            </a:lvl7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altLang="zh-TW" dirty="0"/>
          </a:p>
          <a:p>
            <a:pPr lvl="5"/>
            <a:r>
              <a:rPr lang="zh-TW" altLang="en-US" dirty="0"/>
              <a:t>第六層</a:t>
            </a:r>
            <a:endParaRPr lang="en-US" altLang="zh-TW" dirty="0"/>
          </a:p>
          <a:p>
            <a:pPr lvl="6"/>
            <a:r>
              <a:rPr lang="zh-TW" altLang="en-US" dirty="0"/>
              <a:t>第七層</a:t>
            </a:r>
          </a:p>
        </p:txBody>
      </p:sp>
      <p:pic>
        <p:nvPicPr>
          <p:cNvPr id="7" name="Picture 3" descr="D:\Strix\PPT_template for guideline\ROG_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9304" y="231845"/>
            <a:ext cx="1980000" cy="377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7311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16753"/>
            <a:ext cx="9906000" cy="841247"/>
          </a:xfrm>
          <a:prstGeom prst="rect">
            <a:avLst/>
          </a:prstGeom>
        </p:spPr>
      </p:pic>
      <p:pic>
        <p:nvPicPr>
          <p:cNvPr id="8" name="圖片 7"/>
          <p:cNvPicPr>
            <a:picLocks noChangeAspect="1"/>
          </p:cNvPicPr>
          <p:nvPr userDrawn="1"/>
        </p:nvPicPr>
        <p:blipFill>
          <a:blip r:embed="rId3">
            <a:biLevel thresh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473" y="6480402"/>
            <a:ext cx="1029600" cy="211486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245"/>
          <a:stretch/>
        </p:blipFill>
        <p:spPr bwMode="auto">
          <a:xfrm>
            <a:off x="0" y="5892537"/>
            <a:ext cx="9907560" cy="965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圖片 9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908" y="6481452"/>
            <a:ext cx="900000" cy="184865"/>
          </a:xfrm>
          <a:prstGeom prst="rect">
            <a:avLst/>
          </a:prstGeom>
        </p:spPr>
      </p:pic>
      <p:pic>
        <p:nvPicPr>
          <p:cNvPr id="11" name="Picture 3" descr="D:\Strix\PPT_template for guideline\ROG_logo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9304" y="231845"/>
            <a:ext cx="1980000" cy="377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副標題 2"/>
          <p:cNvSpPr>
            <a:spLocks noGrp="1"/>
          </p:cNvSpPr>
          <p:nvPr>
            <p:ph type="subTitle" idx="1"/>
          </p:nvPr>
        </p:nvSpPr>
        <p:spPr>
          <a:xfrm>
            <a:off x="200472" y="2204864"/>
            <a:ext cx="9490434" cy="1872208"/>
          </a:xfrm>
          <a:prstGeom prst="rect">
            <a:avLst/>
          </a:prstGeom>
        </p:spPr>
        <p:txBody>
          <a:bodyPr lIns="114949" tIns="57475" rIns="114949" bIns="57475" anchor="ctr"/>
          <a:lstStyle>
            <a:lvl1pPr marL="0" indent="0" algn="ctr">
              <a:buNone/>
              <a:defRPr sz="5000">
                <a:solidFill>
                  <a:schemeClr val="bg1">
                    <a:lumMod val="75000"/>
                  </a:schemeClr>
                </a:solidFill>
                <a:latin typeface="Xolonium" pitchFamily="50" charset="0"/>
              </a:defRPr>
            </a:lvl1pPr>
            <a:lvl2pPr marL="5305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610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915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220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525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830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7135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441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dirty="0"/>
              <a:t>按一下以編輯母片副標題樣式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9673956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">
              <a:schemeClr val="tx1">
                <a:lumMod val="85000"/>
                <a:lumOff val="15000"/>
              </a:schemeClr>
            </a:gs>
            <a:gs pos="100000">
              <a:schemeClr val="tx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6239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74" r:id="rId2"/>
    <p:sldLayoutId id="2147483671" r:id="rId3"/>
  </p:sldLayoutIdLst>
  <p:txStyles>
    <p:titleStyle>
      <a:lvl1pPr algn="ctr" defTabSz="1061028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7885" indent="-397885" algn="l" defTabSz="1061028" rtl="0" eaLnBrk="1" latinLnBrk="0" hangingPunct="1">
        <a:spcBef>
          <a:spcPct val="20000"/>
        </a:spcBef>
        <a:buFont typeface="Arial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62085" indent="-331571" algn="l" defTabSz="1061028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26284" indent="-265257" algn="l" defTabSz="1061028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56798" indent="-265257" algn="l" defTabSz="1061028" rtl="0" eaLnBrk="1" latinLnBrk="0" hangingPunct="1">
        <a:spcBef>
          <a:spcPct val="20000"/>
        </a:spcBef>
        <a:buFont typeface="Arial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87311" indent="-265257" algn="l" defTabSz="1061028" rtl="0" eaLnBrk="1" latinLnBrk="0" hangingPunct="1">
        <a:spcBef>
          <a:spcPct val="20000"/>
        </a:spcBef>
        <a:buFont typeface="Arial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917825" indent="-265257" algn="l" defTabSz="1061028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48338" indent="-265257" algn="l" defTabSz="1061028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78852" indent="-265257" algn="l" defTabSz="1061028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09366" indent="-265257" algn="l" defTabSz="1061028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06102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30514" algn="l" defTabSz="106102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61028" algn="l" defTabSz="106102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91541" algn="l" defTabSz="106102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22055" algn="l" defTabSz="106102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52568" algn="l" defTabSz="106102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83082" algn="l" defTabSz="106102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713595" algn="l" defTabSz="106102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44109" algn="l" defTabSz="106102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704528" y="2060848"/>
            <a:ext cx="8640960" cy="1800200"/>
          </a:xfrm>
        </p:spPr>
        <p:txBody>
          <a:bodyPr/>
          <a:lstStyle/>
          <a:p>
            <a:pPr algn="ctr"/>
            <a:r>
              <a:rPr lang="en-US" altLang="zh-TW" sz="8800" dirty="0">
                <a:latin typeface="+mj-lt"/>
              </a:rPr>
              <a:t>Project  Status</a:t>
            </a:r>
            <a:endParaRPr lang="en-US" sz="8800" dirty="0">
              <a:latin typeface="+mj-lt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6825208" y="4941168"/>
            <a:ext cx="2664296" cy="1080120"/>
          </a:xfrm>
        </p:spPr>
        <p:txBody>
          <a:bodyPr/>
          <a:lstStyle/>
          <a:p>
            <a:r>
              <a:rPr lang="en-US" altLang="zh-TW" sz="2800" dirty="0">
                <a:latin typeface="+mj-lt"/>
              </a:rPr>
              <a:t>2025.11.24</a:t>
            </a:r>
            <a:r>
              <a:rPr lang="zh-TW" altLang="en-US" sz="2800" dirty="0">
                <a:latin typeface="+mj-lt"/>
              </a:rPr>
              <a:t> </a:t>
            </a:r>
            <a:endParaRPr lang="en-US" altLang="zh-TW" sz="2800" dirty="0">
              <a:latin typeface="+mj-lt"/>
            </a:endParaRPr>
          </a:p>
          <a:p>
            <a:r>
              <a:rPr lang="en-US" altLang="zh-TW" sz="2800" dirty="0">
                <a:latin typeface="+mj-lt"/>
              </a:rPr>
              <a:t>Jim Chuang</a:t>
            </a:r>
          </a:p>
        </p:txBody>
      </p:sp>
    </p:spTree>
    <p:extLst>
      <p:ext uri="{BB962C8B-B14F-4D97-AF65-F5344CB8AC3E}">
        <p14:creationId xmlns:p14="http://schemas.microsoft.com/office/powerpoint/2010/main" val="144728396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BIOS 底下 Tp 移動緩慢問題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1800"/>
            </a:pPr>
            <a:r>
              <a:t>情境 (Situation)</a:t>
            </a:r>
          </a:p>
          <a:p>
            <a:pPr lvl="1">
              <a:defRPr b="0" sz="1600"/>
            </a:pPr>
            <a:r>
              <a:t>BIOS 底下 Tp 移動緩慢。</a:t>
            </a:r>
          </a:p>
          <a:p>
            <a:pPr>
              <a:defRPr b="1" sz="1800"/>
            </a:pPr>
            <a:r>
              <a:t>任務 (Task)</a:t>
            </a:r>
          </a:p>
          <a:p>
            <a:pPr lvl="1">
              <a:defRPr b="0" sz="1600"/>
            </a:pPr>
            <a:r>
              <a:t>解決 BIOS 底下 Tp 移動緩慢問題。</a:t>
            </a:r>
          </a:p>
          <a:p>
            <a:pPr>
              <a:defRPr b="1" sz="1800"/>
            </a:pPr>
            <a:r>
              <a:t>結果 (Result)</a:t>
            </a:r>
          </a:p>
          <a:p>
            <a:pPr lvl="1">
              <a:defRPr b="0" sz="1600"/>
            </a:pPr>
            <a:r>
              <a:t>待 BIOS 提供新版驗證。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WinHello ADK &amp; HPD latency 超出 MsFT 規範時間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1800"/>
            </a:pPr>
            <a:r>
              <a:t>情境 (Situation)</a:t>
            </a:r>
          </a:p>
          <a:p>
            <a:pPr lvl="1">
              <a:defRPr b="0" sz="1600"/>
            </a:pPr>
            <a:r>
              <a:t>WinHello ADK &amp; HPD latency 超出 MsFT 規範時間。</a:t>
            </a:r>
          </a:p>
          <a:p>
            <a:pPr>
              <a:defRPr b="1" sz="1800"/>
            </a:pPr>
            <a:r>
              <a:t>任務 (Task)</a:t>
            </a:r>
          </a:p>
          <a:p>
            <a:pPr lvl="1">
              <a:defRPr b="0" sz="1600"/>
            </a:pPr>
            <a:r>
              <a:t>解決 WinHello ADK &amp; HPD latency 超出 MsFT 規範時間問題。</a:t>
            </a:r>
          </a:p>
          <a:p>
            <a:pPr>
              <a:defRPr b="1" sz="1800"/>
            </a:pPr>
            <a:r>
              <a:t>結果 (Result)</a:t>
            </a:r>
          </a:p>
          <a:p>
            <a:pPr lvl="1">
              <a:defRPr b="0" sz="1600"/>
            </a:pPr>
            <a:r>
              <a:t>待新 bsp 更新驗證。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reboot 後 Windows login screen 前 Two time flash 問題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1800"/>
            </a:pPr>
            <a:r>
              <a:t>情境 (Situation)</a:t>
            </a:r>
          </a:p>
          <a:p>
            <a:pPr lvl="1">
              <a:defRPr b="0" sz="1600"/>
            </a:pPr>
            <a:r>
              <a:t>reboot 後 Windows login screen 前發生 Two time flash。此為 NV bug:5616026。</a:t>
            </a:r>
          </a:p>
          <a:p>
            <a:pPr>
              <a:defRPr b="1" sz="1800"/>
            </a:pPr>
            <a:r>
              <a:t>任務 (Task)</a:t>
            </a:r>
          </a:p>
          <a:p>
            <a:pPr lvl="1">
              <a:defRPr b="0" sz="1600"/>
            </a:pPr>
            <a:r>
              <a:t>解決 Two time flash before Windows login screen after reboot 問題。</a:t>
            </a:r>
          </a:p>
          <a:p>
            <a:pPr>
              <a:defRPr b="1" sz="1800"/>
            </a:pPr>
            <a:r>
              <a:t>結果 (Result)</a:t>
            </a:r>
          </a:p>
          <a:p>
            <a:pPr lvl="1">
              <a:defRPr b="0" sz="1600"/>
            </a:pPr>
            <a:r>
              <a:t>待 NV 解決此 bug。目前狀態為 conditional close。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HDMI Plug-In 後 LSI Internal Panel 無 Brightness 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1800"/>
            </a:pPr>
            <a:r>
              <a:t>情境 (Situation)</a:t>
            </a:r>
          </a:p>
          <a:p>
            <a:pPr lvl="1">
              <a:defRPr b="0" sz="1600"/>
            </a:pPr>
            <a:r>
              <a:t>HDMI Plug-In 後，LSI Internal Panel 未收到 Brightness Commands。此為 NV bug:5669934。</a:t>
            </a:r>
          </a:p>
          <a:p>
            <a:pPr>
              <a:defRPr b="1" sz="1800"/>
            </a:pPr>
            <a:r>
              <a:t>任務 (Task)</a:t>
            </a:r>
          </a:p>
          <a:p>
            <a:pPr lvl="1">
              <a:defRPr b="0" sz="1600"/>
            </a:pPr>
            <a:r>
              <a:t>解決 HDMI Plug-In 後 No Brightness Commands Sent to LSI Internal Panel 問題。</a:t>
            </a:r>
          </a:p>
          <a:p>
            <a:pPr>
              <a:defRPr b="1" sz="1800"/>
            </a:pPr>
            <a:r>
              <a:t>結果 (Result)</a:t>
            </a:r>
          </a:p>
          <a:p>
            <a:pPr lvl="1">
              <a:defRPr b="0" sz="1600"/>
            </a:pPr>
            <a:r>
              <a:t>5.0.4 仍會異常。下一版 Bsp 持續確認。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Camera launch 偶發失效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1800"/>
            </a:pPr>
            <a:r>
              <a:t>情境 (Situation)</a:t>
            </a:r>
          </a:p>
          <a:p>
            <a:pPr lvl="1">
              <a:defRPr b="0" sz="1600"/>
            </a:pPr>
            <a:r>
              <a:t>Camera launch 偶發失效。</a:t>
            </a:r>
          </a:p>
          <a:p>
            <a:pPr>
              <a:defRPr b="1" sz="1800"/>
            </a:pPr>
            <a:r>
              <a:t>任務 (Task)</a:t>
            </a:r>
          </a:p>
          <a:p>
            <a:pPr lvl="1">
              <a:defRPr b="0" sz="1600"/>
            </a:pPr>
            <a:r>
              <a:t>解決 Camera launch 偶發失效問題。</a:t>
            </a:r>
          </a:p>
          <a:p>
            <a:pPr>
              <a:defRPr b="1" sz="1800"/>
            </a:pPr>
            <a:r>
              <a:t>結果 (Result)</a:t>
            </a:r>
          </a:p>
          <a:p>
            <a:pPr lvl="1">
              <a:defRPr b="0" sz="1600"/>
            </a:pPr>
            <a:r>
              <a:t>待新 bsp 更新驗證。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device manager 仍然有 Y8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1800"/>
            </a:pPr>
            <a:r>
              <a:t>情境 (Situation)</a:t>
            </a:r>
          </a:p>
          <a:p>
            <a:pPr lvl="1">
              <a:defRPr b="0" sz="1600"/>
            </a:pPr>
            <a:r>
              <a:t>device manager 仍然顯示 Y8。</a:t>
            </a:r>
          </a:p>
          <a:p>
            <a:pPr>
              <a:defRPr b="1" sz="1800"/>
            </a:pPr>
            <a:r>
              <a:t>任務 (Task)</a:t>
            </a:r>
          </a:p>
          <a:p>
            <a:pPr lvl="1">
              <a:defRPr b="0" sz="1600"/>
            </a:pPr>
            <a:r>
              <a:t>解決 device manager 中 Y8 的問題。</a:t>
            </a:r>
          </a:p>
          <a:p>
            <a:pPr>
              <a:defRPr b="1" sz="1800"/>
            </a:pPr>
            <a:r>
              <a:t>結果 (Result)</a:t>
            </a:r>
          </a:p>
          <a:p>
            <a:pPr lvl="1">
              <a:defRPr b="0" sz="1600"/>
            </a:pPr>
            <a:r>
              <a:t>待新 bsp 更新驗證。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Reboot/cold boot 不預期 reboot 或進入 system repair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1800"/>
            </a:pPr>
            <a:r>
              <a:t>情境 (Situation)</a:t>
            </a:r>
          </a:p>
          <a:p>
            <a:pPr lvl="1">
              <a:defRPr b="0" sz="1600"/>
            </a:pPr>
            <a:r>
              <a:t>Reboot/cold boot 會有機率不預期 reboot 或進入 system repair。</a:t>
            </a:r>
          </a:p>
          <a:p>
            <a:pPr>
              <a:defRPr b="1" sz="1800"/>
            </a:pPr>
            <a:r>
              <a:t>任務 (Task)</a:t>
            </a:r>
          </a:p>
          <a:p>
            <a:pPr lvl="1">
              <a:defRPr b="0" sz="1600"/>
            </a:pPr>
            <a:r>
              <a:t>診斷 Reboot/cold boot 不預期 reboot 或進入 system repair 的原因並解決。</a:t>
            </a:r>
          </a:p>
          <a:p>
            <a:pPr>
              <a:defRPr b="1" sz="1800"/>
            </a:pPr>
            <a:r>
              <a:t>結果 (Result)</a:t>
            </a:r>
          </a:p>
          <a:p>
            <a:pPr lvl="1">
              <a:defRPr b="0" sz="1600"/>
            </a:pPr>
            <a:r>
              <a:t>需進一步診斷問題原因。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USB Lan usb 在 winpe 中無法識別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1800"/>
            </a:pPr>
            <a:r>
              <a:t>情境 (Situation)</a:t>
            </a:r>
          </a:p>
          <a:p>
            <a:pPr lvl="1">
              <a:defRPr b="0" sz="1600"/>
            </a:pPr>
            <a:r>
              <a:t>插著 USB Lan usb 開機進到 winpe 會認不到，需要重插拔才認的到。</a:t>
            </a:r>
          </a:p>
          <a:p>
            <a:pPr>
              <a:defRPr b="1" sz="1800"/>
            </a:pPr>
            <a:r>
              <a:t>任務 (Task)</a:t>
            </a:r>
          </a:p>
          <a:p>
            <a:pPr lvl="1">
              <a:defRPr b="0" sz="1600"/>
            </a:pPr>
            <a:r>
              <a:t>解決 USB Lan usb 在 winpe 中無法識別的問題。</a:t>
            </a:r>
          </a:p>
          <a:p>
            <a:pPr>
              <a:defRPr b="1" sz="1800"/>
            </a:pPr>
            <a:r>
              <a:t>結果 (Result)</a:t>
            </a:r>
          </a:p>
          <a:p>
            <a:pPr lvl="1">
              <a:defRPr b="0" sz="1600"/>
            </a:pPr>
            <a:r>
              <a:t>此議題會影響生產，PR 上線前需解決，否則工廠可能卡上線或產生額外 cost。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BIOS setup 中 power button 無法關機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1800"/>
            </a:pPr>
            <a:r>
              <a:t>情境 (Situation)</a:t>
            </a:r>
          </a:p>
          <a:p>
            <a:pPr lvl="1">
              <a:defRPr b="0" sz="1600"/>
            </a:pPr>
            <a:r>
              <a:t>在 BIOS setup 中無法按 power button 關機。</a:t>
            </a:r>
          </a:p>
          <a:p>
            <a:pPr>
              <a:defRPr b="1" sz="1800"/>
            </a:pPr>
            <a:r>
              <a:t>任務 (Task)</a:t>
            </a:r>
          </a:p>
          <a:p>
            <a:pPr lvl="1">
              <a:defRPr b="0" sz="1600"/>
            </a:pPr>
            <a:r>
              <a:t>解決 BIOS setup 中 power button 無法關機的問題。</a:t>
            </a:r>
          </a:p>
          <a:p>
            <a:pPr>
              <a:defRPr b="1" sz="1800"/>
            </a:pPr>
            <a:r>
              <a:t>結果 (Result)</a:t>
            </a:r>
          </a:p>
          <a:p>
            <a:pPr lvl="1">
              <a:defRPr b="0" sz="1600"/>
            </a:pPr>
            <a:r>
              <a:t>需進一步確認解決方案。目前狀態為 conditional close。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CPU 650 HW drips 無法完全下沉問題 (BSP 5.0.5)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1800"/>
            </a:pPr>
            <a:r>
              <a:t>情境 (Situation)</a:t>
            </a:r>
          </a:p>
          <a:p>
            <a:pPr lvl="1">
              <a:defRPr b="0" sz="1600"/>
            </a:pPr>
            <a:r>
              <a:t>BSP 5.0.5 組態已修正 CPU 650 HW drips 問題，但仍有機率性下不去 hwdqdrips (卡 dispsys)。</a:t>
            </a:r>
          </a:p>
          <a:p>
            <a:pPr lvl="1">
              <a:defRPr b="0" sz="1600"/>
            </a:pPr>
            <a:r>
              <a:t>Fail Rate:** 10% (下不去 hwdqdrips)。</a:t>
            </a:r>
          </a:p>
          <a:p>
            <a:pPr>
              <a:defRPr b="1" sz="1800"/>
            </a:pPr>
            <a:r>
              <a:t>任務 (Task)</a:t>
            </a:r>
          </a:p>
          <a:p>
            <a:pPr lvl="1">
              <a:defRPr b="0" sz="1600"/>
            </a:pPr>
            <a:r>
              <a:t>解決 CPU 650 HW drips 無法完全下沉的問題。</a:t>
            </a:r>
          </a:p>
          <a:p>
            <a:pPr>
              <a:defRPr b="1" sz="1800"/>
            </a:pPr>
            <a:r>
              <a:t>行動 (Action)</a:t>
            </a:r>
          </a:p>
          <a:p>
            <a:pPr lvl="1">
              <a:defRPr b="0" sz="1600"/>
            </a:pPr>
            <a:r>
              <a:t>BSP 5.0.5 組態已修正 CPU 650 HW drips 問題。</a:t>
            </a:r>
          </a:p>
          <a:p>
            <a:pPr>
              <a:defRPr b="1" sz="1800"/>
            </a:pPr>
            <a:r>
              <a:t>結果 (Result)</a:t>
            </a:r>
          </a:p>
          <a:p>
            <a:pPr lvl="1">
              <a:defRPr b="0" sz="1600"/>
            </a:pPr>
            <a:r>
              <a:t>Nv 還在 debug。平均 Hw drips 有高於 85%。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Ms 回來後機率性黑屏問題 (BSP 5.0.5)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b="1" sz="1800"/>
            </a:pPr>
            <a:r>
              <a:t>情境 (Situation)</a:t>
            </a:r>
          </a:p>
          <a:p>
            <a:pPr lvl="1">
              <a:defRPr b="0" sz="1600"/>
            </a:pPr>
            <a:r>
              <a:t>BSP 5.0.5 有 Ms 回來後機率性黑屏的問題 (系統還活著)。此問題在 P14/P16 皆有遇到。</a:t>
            </a:r>
          </a:p>
          <a:p>
            <a:pPr>
              <a:defRPr b="1" sz="1800"/>
            </a:pPr>
            <a:r>
              <a:t>任務 (Task)</a:t>
            </a:r>
          </a:p>
          <a:p>
            <a:pPr lvl="1">
              <a:defRPr b="0" sz="1600"/>
            </a:pPr>
            <a:r>
              <a:t>解決 BSP 5.0.5 Ms 回來後機率性黑屏的問題。</a:t>
            </a:r>
          </a:p>
          <a:p>
            <a:pPr>
              <a:defRPr b="1" sz="1800"/>
            </a:pPr>
            <a:r>
              <a:t>行動 (Action)</a:t>
            </a:r>
          </a:p>
          <a:p>
            <a:pPr lvl="1">
              <a:defRPr b="0" sz="1600"/>
            </a:pPr>
            <a:r>
              <a:t>已開 case 給 Qc 確認。</a:t>
            </a:r>
          </a:p>
          <a:p>
            <a:pPr>
              <a:defRPr b="1" sz="1800"/>
            </a:pPr>
            <a:r>
              <a:t>結果 (Result)</a:t>
            </a:r>
          </a:p>
          <a:p>
            <a:pPr lvl="1">
              <a:defRPr b="0" sz="1600"/>
            </a:pPr>
            <a:r>
              <a:t>待 Qc 確認結果並提供解決方案。目前狀態為 conditional close。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3a16721-18fd-44b7-8ec5-1187ff0df8c4">
      <Terms xmlns="http://schemas.microsoft.com/office/infopath/2007/PartnerControls"/>
    </lcf76f155ced4ddcb4097134ff3c332f>
    <TaxCatchAll xmlns="b853eec5-410e-4fe0-a989-a5cb380187b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74BDEA2024CA409016096F2D7B586B" ma:contentTypeVersion="11" ma:contentTypeDescription="Create a new document." ma:contentTypeScope="" ma:versionID="7787292cacf20c99374fbc3c1ba30b1c">
  <xsd:schema xmlns:xsd="http://www.w3.org/2001/XMLSchema" xmlns:xs="http://www.w3.org/2001/XMLSchema" xmlns:p="http://schemas.microsoft.com/office/2006/metadata/properties" xmlns:ns2="b3a16721-18fd-44b7-8ec5-1187ff0df8c4" xmlns:ns3="b853eec5-410e-4fe0-a989-a5cb380187bb" targetNamespace="http://schemas.microsoft.com/office/2006/metadata/properties" ma:root="true" ma:fieldsID="cd2e1ae1c8b3896f71c45a54ab2fedd8" ns2:_="" ns3:_="">
    <xsd:import namespace="b3a16721-18fd-44b7-8ec5-1187ff0df8c4"/>
    <xsd:import namespace="b853eec5-410e-4fe0-a989-a5cb380187b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a16721-18fd-44b7-8ec5-1187ff0df8c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535f32ca-9e08-423f-8326-45026605509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53eec5-410e-4fe0-a989-a5cb380187bb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5001d322-27b1-4442-af14-4b67ab7ad101}" ma:internalName="TaxCatchAll" ma:showField="CatchAllData" ma:web="b853eec5-410e-4fe0-a989-a5cb380187b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5FAA361-4BD2-404B-8134-52629A7817F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44DF55E-38A3-4201-8002-F0AEF82722E2}">
  <ds:schemaRefs>
    <ds:schemaRef ds:uri="http://schemas.openxmlformats.org/package/2006/metadata/core-properties"/>
    <ds:schemaRef ds:uri="http://schemas.microsoft.com/office/infopath/2007/PartnerControls"/>
    <ds:schemaRef ds:uri="http://purl.org/dc/terms/"/>
    <ds:schemaRef ds:uri="http://www.w3.org/XML/1998/namespace"/>
    <ds:schemaRef ds:uri="http://purl.org/dc/dcmitype/"/>
    <ds:schemaRef ds:uri="http://purl.org/dc/elements/1.1/"/>
    <ds:schemaRef ds:uri="http://schemas.microsoft.com/office/2006/documentManagement/types"/>
    <ds:schemaRef ds:uri="http://schemas.microsoft.com/office/2006/metadata/properties"/>
    <ds:schemaRef ds:uri="b3a16721-18fd-44b7-8ec5-1187ff0df8c4"/>
    <ds:schemaRef ds:uri="b853eec5-410e-4fe0-a989-a5cb380187bb"/>
  </ds:schemaRefs>
</ds:datastoreItem>
</file>

<file path=customXml/itemProps3.xml><?xml version="1.0" encoding="utf-8"?>
<ds:datastoreItem xmlns:ds="http://schemas.openxmlformats.org/officeDocument/2006/customXml" ds:itemID="{85063CF7-8C76-4E14-BD8B-E0C4AF4F36F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3a16721-18fd-44b7-8ec5-1187ff0df8c4"/>
    <ds:schemaRef ds:uri="b853eec5-410e-4fe0-a989-a5cb380187b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301f59c4-c269-4a66-8a8c-f5daab211fa3}" enabled="0" method="" siteId="{301f59c4-c269-4a66-8a8c-f5daab211fa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582182</TotalTime>
  <Words>6</Words>
  <Application>Microsoft Office PowerPoint</Application>
  <PresentationFormat>A4 紙張 (210x297 公釐)</PresentationFormat>
  <Paragraphs>4</Paragraphs>
  <Slides>1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ROG Fonts v1.5</vt:lpstr>
      <vt:lpstr>Arial</vt:lpstr>
      <vt:lpstr>Calibri</vt:lpstr>
      <vt:lpstr>Xolonium</vt:lpstr>
      <vt:lpstr>1_自訂設計</vt:lpstr>
      <vt:lpstr>Project  Status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Natasha Lee(李正梅)</dc:creator>
  <cp:lastModifiedBy>Jim2 Chuang(莊智焜)</cp:lastModifiedBy>
  <cp:revision>23119</cp:revision>
  <cp:lastPrinted>2014-07-10T10:53:53Z</cp:lastPrinted>
  <dcterms:created xsi:type="dcterms:W3CDTF">2014-05-07T05:31:30Z</dcterms:created>
  <dcterms:modified xsi:type="dcterms:W3CDTF">2025-12-09T09:41:02Z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0x010100A174BDEA2024CA409016096F2D7B586B</vt:lpwstr>
  </property>
</Properties>
</file>